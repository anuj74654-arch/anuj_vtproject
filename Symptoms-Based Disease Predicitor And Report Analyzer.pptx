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68DCC-270A-4AC6-8C03-1E62600F6D88}" v="1" dt="2026-07-06T16:03:50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ur Agrawal" userId="9f3f77fc45727186" providerId="LiveId" clId="{22DBF1C2-ECBA-48AE-87DC-F1FA3333E97A}"/>
    <pc:docChg chg="modSld">
      <pc:chgData name="Ankur Agrawal" userId="9f3f77fc45727186" providerId="LiveId" clId="{22DBF1C2-ECBA-48AE-87DC-F1FA3333E97A}" dt="2026-07-06T16:04:42.565" v="15" actId="790"/>
      <pc:docMkLst>
        <pc:docMk/>
      </pc:docMkLst>
      <pc:sldChg chg="modSp mod">
        <pc:chgData name="Ankur Agrawal" userId="9f3f77fc45727186" providerId="LiveId" clId="{22DBF1C2-ECBA-48AE-87DC-F1FA3333E97A}" dt="2026-07-06T16:04:42.565" v="15" actId="790"/>
        <pc:sldMkLst>
          <pc:docMk/>
          <pc:sldMk cId="0" sldId="256"/>
        </pc:sldMkLst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Ankur Agrawal" userId="9f3f77fc45727186" providerId="LiveId" clId="{22DBF1C2-ECBA-48AE-87DC-F1FA3333E97A}" dt="2026-07-06T16:04:42.565" v="15" actId="790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D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1967" y="498333"/>
            <a:ext cx="3447584" cy="3485609"/>
          </a:xfrm>
          <a:custGeom>
            <a:avLst/>
            <a:gdLst/>
            <a:ahLst/>
            <a:cxnLst/>
            <a:rect l="l" t="t" r="r" b="b"/>
            <a:pathLst>
              <a:path w="3447584" h="3485609">
                <a:moveTo>
                  <a:pt x="0" y="0"/>
                </a:moveTo>
                <a:lnTo>
                  <a:pt x="3447584" y="0"/>
                </a:lnTo>
                <a:lnTo>
                  <a:pt x="3447584" y="3485609"/>
                </a:lnTo>
                <a:lnTo>
                  <a:pt x="0" y="3485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1"/>
          </a:p>
        </p:txBody>
      </p:sp>
      <p:sp>
        <p:nvSpPr>
          <p:cNvPr id="3" name="Freeform 3"/>
          <p:cNvSpPr/>
          <p:nvPr/>
        </p:nvSpPr>
        <p:spPr>
          <a:xfrm>
            <a:off x="292732" y="5794770"/>
            <a:ext cx="5246382" cy="2966591"/>
          </a:xfrm>
          <a:custGeom>
            <a:avLst/>
            <a:gdLst/>
            <a:ahLst/>
            <a:cxnLst/>
            <a:rect l="l" t="t" r="r" b="b"/>
            <a:pathLst>
              <a:path w="5246382" h="2966591">
                <a:moveTo>
                  <a:pt x="0" y="0"/>
                </a:moveTo>
                <a:lnTo>
                  <a:pt x="5246383" y="0"/>
                </a:lnTo>
                <a:lnTo>
                  <a:pt x="5246383" y="2966590"/>
                </a:lnTo>
                <a:lnTo>
                  <a:pt x="0" y="2966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1"/>
          </a:p>
        </p:txBody>
      </p:sp>
      <p:sp>
        <p:nvSpPr>
          <p:cNvPr id="4" name="Freeform 4"/>
          <p:cNvSpPr/>
          <p:nvPr/>
        </p:nvSpPr>
        <p:spPr>
          <a:xfrm>
            <a:off x="5136908" y="354792"/>
            <a:ext cx="12631618" cy="2245197"/>
          </a:xfrm>
          <a:custGeom>
            <a:avLst/>
            <a:gdLst/>
            <a:ahLst/>
            <a:cxnLst/>
            <a:rect l="l" t="t" r="r" b="b"/>
            <a:pathLst>
              <a:path w="12631618" h="2245197">
                <a:moveTo>
                  <a:pt x="0" y="0"/>
                </a:moveTo>
                <a:lnTo>
                  <a:pt x="12631618" y="0"/>
                </a:lnTo>
                <a:lnTo>
                  <a:pt x="12631618" y="2245198"/>
                </a:lnTo>
                <a:lnTo>
                  <a:pt x="0" y="2245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441"/>
            </a:stretch>
          </a:blipFill>
        </p:spPr>
        <p:txBody>
          <a:bodyPr/>
          <a:lstStyle/>
          <a:p>
            <a:endParaRPr lang="en-US" noProof="1"/>
          </a:p>
        </p:txBody>
      </p:sp>
      <p:sp>
        <p:nvSpPr>
          <p:cNvPr id="5" name="TextBox 5"/>
          <p:cNvSpPr txBox="1"/>
          <p:nvPr/>
        </p:nvSpPr>
        <p:spPr>
          <a:xfrm>
            <a:off x="13674769" y="7948699"/>
            <a:ext cx="3431251" cy="46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48"/>
              </a:lnSpc>
            </a:pPr>
            <a:r>
              <a:rPr lang="en-US" sz="3748" noProof="1">
                <a:solidFill>
                  <a:srgbClr val="D6E6F7"/>
                </a:solidFill>
                <a:latin typeface="Canva Sans"/>
                <a:ea typeface="Canva Sans"/>
                <a:cs typeface="Canva Sans"/>
                <a:sym typeface="Canva Sans"/>
              </a:rPr>
              <a:t>Presented by: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53398" y="3412509"/>
            <a:ext cx="10155662" cy="143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US" sz="4075" b="1" noProof="1">
                <a:solidFill>
                  <a:srgbClr val="D6E6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Title:</a:t>
            </a:r>
            <a:r>
              <a:rPr lang="en-US" sz="4075" noProof="1">
                <a:solidFill>
                  <a:srgbClr val="D6E6F7"/>
                </a:solidFill>
                <a:latin typeface="Canva Sans"/>
                <a:ea typeface="Canva Sans"/>
                <a:cs typeface="Canva Sans"/>
                <a:sym typeface="Canva Sans"/>
              </a:rPr>
              <a:t>  Sysmtpms-Based Disease Predictor and Report Analyzer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16347" y="7786774"/>
            <a:ext cx="5905067" cy="185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9"/>
              </a:lnSpc>
            </a:pPr>
            <a:r>
              <a:rPr lang="en-US" sz="3785" noProof="1">
                <a:solidFill>
                  <a:srgbClr val="D6E6F7"/>
                </a:solidFill>
                <a:latin typeface="Canva Sans"/>
                <a:ea typeface="Canva Sans"/>
                <a:cs typeface="Canva Sans"/>
                <a:sym typeface="Canva Sans"/>
              </a:rPr>
              <a:t>Under The Guidance of:</a:t>
            </a:r>
          </a:p>
          <a:p>
            <a:pPr algn="ctr">
              <a:lnSpc>
                <a:spcPts val="5299"/>
              </a:lnSpc>
            </a:pPr>
            <a:r>
              <a:rPr lang="en-US" sz="3785" noProof="1">
                <a:solidFill>
                  <a:srgbClr val="D6E6F7"/>
                </a:solidFill>
                <a:latin typeface="Canva Sans"/>
                <a:ea typeface="Canva Sans"/>
                <a:cs typeface="Canva Sans"/>
                <a:sym typeface="Canva Sans"/>
              </a:rPr>
              <a:t>Techonet Pvt Ltd</a:t>
            </a:r>
          </a:p>
          <a:p>
            <a:pPr algn="ctr">
              <a:lnSpc>
                <a:spcPts val="3787"/>
              </a:lnSpc>
            </a:pPr>
            <a:endParaRPr lang="en-US" sz="3785" noProof="1">
              <a:solidFill>
                <a:srgbClr val="D6E6F7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674769" y="8391463"/>
            <a:ext cx="3263384" cy="638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46"/>
              </a:lnSpc>
            </a:pPr>
            <a:r>
              <a:rPr lang="en-US" sz="3747" noProof="1">
                <a:solidFill>
                  <a:srgbClr val="D6E6F7"/>
                </a:solidFill>
                <a:latin typeface="Canva Sans"/>
                <a:ea typeface="Canva Sans"/>
                <a:cs typeface="Canva Sans"/>
                <a:sym typeface="Canva Sans"/>
              </a:rPr>
              <a:t> Anuj Agrawal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53398" y="5718570"/>
            <a:ext cx="8783241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noProof="1">
                <a:solidFill>
                  <a:srgbClr val="D6E6F7"/>
                </a:solidFill>
                <a:latin typeface="Canva Sans"/>
                <a:ea typeface="Canva Sans"/>
                <a:cs typeface="Canva Sans"/>
                <a:sym typeface="Canva Sans"/>
              </a:rPr>
              <a:t> University Roll No: 301411023018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44449" y="1229682"/>
            <a:ext cx="7359879" cy="7359879"/>
          </a:xfrm>
          <a:custGeom>
            <a:avLst/>
            <a:gdLst/>
            <a:ahLst/>
            <a:cxnLst/>
            <a:rect l="l" t="t" r="r" b="b"/>
            <a:pathLst>
              <a:path w="7359879" h="7359879">
                <a:moveTo>
                  <a:pt x="0" y="0"/>
                </a:moveTo>
                <a:lnTo>
                  <a:pt x="7359879" y="0"/>
                </a:lnTo>
                <a:lnTo>
                  <a:pt x="7359879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55815" y="1324932"/>
            <a:ext cx="4934061" cy="70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5291" b="1" u="sng">
                <a:solidFill>
                  <a:srgbClr val="044D8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5224" y="2771013"/>
            <a:ext cx="9735326" cy="47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2"/>
              </a:lnSpc>
            </a:pPr>
            <a:r>
              <a:rPr lang="en-US" sz="2899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The System-Based Disease Prediction System is a Machine-Learning web -Based application platform to predict diseases based on Symptoms entered by users. The System analyzes symptoms data and predicts the most probable disease using a trained Random Forest classification model. In addition to prediction, the system provides disease description, medication information, precautions, and workout recommendation to help users understand and manage their health conditions.</a:t>
            </a:r>
          </a:p>
          <a:p>
            <a:pPr algn="l">
              <a:lnSpc>
                <a:spcPts val="3392"/>
              </a:lnSpc>
            </a:pPr>
            <a:endParaRPr lang="en-US" sz="2899">
              <a:solidFill>
                <a:srgbClr val="044D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5815" y="3771657"/>
            <a:ext cx="1389871" cy="1475732"/>
          </a:xfrm>
          <a:custGeom>
            <a:avLst/>
            <a:gdLst/>
            <a:ahLst/>
            <a:cxnLst/>
            <a:rect l="l" t="t" r="r" b="b"/>
            <a:pathLst>
              <a:path w="1389871" h="1475732">
                <a:moveTo>
                  <a:pt x="0" y="0"/>
                </a:moveTo>
                <a:lnTo>
                  <a:pt x="1389871" y="0"/>
                </a:lnTo>
                <a:lnTo>
                  <a:pt x="1389871" y="1475732"/>
                </a:lnTo>
                <a:lnTo>
                  <a:pt x="0" y="1475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259173" y="1674190"/>
            <a:ext cx="6686578" cy="70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5291" b="1">
                <a:solidFill>
                  <a:srgbClr val="044D8F"/>
                </a:solidFill>
                <a:latin typeface="Poppins Bold"/>
                <a:ea typeface="Poppins Bold"/>
                <a:cs typeface="Poppins Bold"/>
                <a:sym typeface="Poppins Bold"/>
              </a:rPr>
              <a:t>  </a:t>
            </a:r>
            <a:r>
              <a:rPr lang="en-US" sz="5291" b="1" u="sng">
                <a:solidFill>
                  <a:srgbClr val="044D8F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59173" y="3752607"/>
            <a:ext cx="12855080" cy="1911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541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The emergence of machine learning introduced data-driven approaches capable of learning complex relationships between symptoms and diseases. Modern systems can analyze large healthcare datasets and provide predictions with higher accuracy.</a:t>
            </a:r>
          </a:p>
          <a:p>
            <a:pPr algn="l">
              <a:lnSpc>
                <a:spcPts val="2973"/>
              </a:lnSpc>
            </a:pPr>
            <a:r>
              <a:rPr lang="en-US" sz="2541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5" name="Freeform 5"/>
          <p:cNvSpPr/>
          <p:nvPr/>
        </p:nvSpPr>
        <p:spPr>
          <a:xfrm>
            <a:off x="1455815" y="5741372"/>
            <a:ext cx="1389871" cy="1475732"/>
          </a:xfrm>
          <a:custGeom>
            <a:avLst/>
            <a:gdLst/>
            <a:ahLst/>
            <a:cxnLst/>
            <a:rect l="l" t="t" r="r" b="b"/>
            <a:pathLst>
              <a:path w="1389871" h="1475732">
                <a:moveTo>
                  <a:pt x="0" y="0"/>
                </a:moveTo>
                <a:lnTo>
                  <a:pt x="1389871" y="0"/>
                </a:lnTo>
                <a:lnTo>
                  <a:pt x="1389871" y="1475732"/>
                </a:lnTo>
                <a:lnTo>
                  <a:pt x="0" y="1475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207206" y="5722322"/>
            <a:ext cx="12581101" cy="226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520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A robust multi-process approach that integrates the decision tree algorithm with clustering techniques was implemented in this system. This methodology aids in the development of a predictive system for cardiac arrest. It can be concluded that the Random Forest classifier algorithm demonstrates superior accuracy and efficiency compared to the other.</a:t>
            </a:r>
          </a:p>
          <a:p>
            <a:pPr algn="l">
              <a:lnSpc>
                <a:spcPts val="2948"/>
              </a:lnSpc>
            </a:pPr>
            <a:endParaRPr lang="en-US" sz="2520">
              <a:solidFill>
                <a:srgbClr val="044D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455815" y="8108072"/>
            <a:ext cx="1389871" cy="1475732"/>
          </a:xfrm>
          <a:custGeom>
            <a:avLst/>
            <a:gdLst/>
            <a:ahLst/>
            <a:cxnLst/>
            <a:rect l="l" t="t" r="r" b="b"/>
            <a:pathLst>
              <a:path w="1389871" h="1475732">
                <a:moveTo>
                  <a:pt x="0" y="0"/>
                </a:moveTo>
                <a:lnTo>
                  <a:pt x="1389871" y="0"/>
                </a:lnTo>
                <a:lnTo>
                  <a:pt x="1389871" y="1475732"/>
                </a:lnTo>
                <a:lnTo>
                  <a:pt x="0" y="1475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207206" y="8221670"/>
            <a:ext cx="13477090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Studies show that symptom-based prediction systems can support early diagnosis and timely treatment.</a:t>
            </a:r>
          </a:p>
          <a:p>
            <a:pPr algn="l">
              <a:lnSpc>
                <a:spcPts val="3158"/>
              </a:lnSpc>
            </a:pPr>
            <a:endParaRPr lang="en-US" sz="2700">
              <a:solidFill>
                <a:srgbClr val="044D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0840" y="3261576"/>
            <a:ext cx="1114975" cy="1114975"/>
          </a:xfrm>
          <a:custGeom>
            <a:avLst/>
            <a:gdLst/>
            <a:ahLst/>
            <a:cxnLst/>
            <a:rect l="l" t="t" r="r" b="b"/>
            <a:pathLst>
              <a:path w="1114975" h="1114975">
                <a:moveTo>
                  <a:pt x="0" y="0"/>
                </a:moveTo>
                <a:lnTo>
                  <a:pt x="1114975" y="0"/>
                </a:lnTo>
                <a:lnTo>
                  <a:pt x="1114975" y="1114975"/>
                </a:lnTo>
                <a:lnTo>
                  <a:pt x="0" y="1114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0840" y="5637276"/>
            <a:ext cx="1114975" cy="1114975"/>
          </a:xfrm>
          <a:custGeom>
            <a:avLst/>
            <a:gdLst/>
            <a:ahLst/>
            <a:cxnLst/>
            <a:rect l="l" t="t" r="r" b="b"/>
            <a:pathLst>
              <a:path w="1114975" h="1114975">
                <a:moveTo>
                  <a:pt x="0" y="0"/>
                </a:moveTo>
                <a:lnTo>
                  <a:pt x="1114975" y="0"/>
                </a:lnTo>
                <a:lnTo>
                  <a:pt x="1114975" y="1114975"/>
                </a:lnTo>
                <a:lnTo>
                  <a:pt x="0" y="1114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40840" y="7724013"/>
            <a:ext cx="1114975" cy="1114975"/>
          </a:xfrm>
          <a:custGeom>
            <a:avLst/>
            <a:gdLst/>
            <a:ahLst/>
            <a:cxnLst/>
            <a:rect l="l" t="t" r="r" b="b"/>
            <a:pathLst>
              <a:path w="1114975" h="1114975">
                <a:moveTo>
                  <a:pt x="0" y="0"/>
                </a:moveTo>
                <a:lnTo>
                  <a:pt x="1114975" y="0"/>
                </a:lnTo>
                <a:lnTo>
                  <a:pt x="1114975" y="1114975"/>
                </a:lnTo>
                <a:lnTo>
                  <a:pt x="0" y="1114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711461" y="153126"/>
            <a:ext cx="7356849" cy="5251825"/>
          </a:xfrm>
          <a:custGeom>
            <a:avLst/>
            <a:gdLst/>
            <a:ahLst/>
            <a:cxnLst/>
            <a:rect l="l" t="t" r="r" b="b"/>
            <a:pathLst>
              <a:path w="7356849" h="5251825">
                <a:moveTo>
                  <a:pt x="0" y="0"/>
                </a:moveTo>
                <a:lnTo>
                  <a:pt x="7356848" y="0"/>
                </a:lnTo>
                <a:lnTo>
                  <a:pt x="7356848" y="5251825"/>
                </a:lnTo>
                <a:lnTo>
                  <a:pt x="0" y="5251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657" b="-400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321447" y="5756953"/>
            <a:ext cx="7746863" cy="3939789"/>
          </a:xfrm>
          <a:custGeom>
            <a:avLst/>
            <a:gdLst/>
            <a:ahLst/>
            <a:cxnLst/>
            <a:rect l="l" t="t" r="r" b="b"/>
            <a:pathLst>
              <a:path w="7746863" h="3939789">
                <a:moveTo>
                  <a:pt x="0" y="0"/>
                </a:moveTo>
                <a:lnTo>
                  <a:pt x="7746862" y="0"/>
                </a:lnTo>
                <a:lnTo>
                  <a:pt x="7746862" y="3939789"/>
                </a:lnTo>
                <a:lnTo>
                  <a:pt x="0" y="3939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02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03182" y="1324932"/>
            <a:ext cx="7182409" cy="70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291" b="1" u="sng">
                <a:solidFill>
                  <a:srgbClr val="044D8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3122" y="3252051"/>
            <a:ext cx="8936414" cy="172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868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Different diseases often share similar symptoms, making it challenging for individuals to identify the correct disease without a systematic prediction approach.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3122" y="5618226"/>
            <a:ext cx="7353479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Many people ignore or misinterpret early symptoms, resulting in delayed diagnosis and treatment.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3122" y="7704963"/>
            <a:ext cx="7149849" cy="1540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4"/>
              </a:lnSpc>
            </a:pPr>
            <a:r>
              <a:rPr lang="en-US" sz="2550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Many people do not have immediate access to healthcare professionals, especially in rural or remote areas, making timely disease identification difficult.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5815" y="3070253"/>
            <a:ext cx="2790127" cy="2769835"/>
          </a:xfrm>
          <a:custGeom>
            <a:avLst/>
            <a:gdLst/>
            <a:ahLst/>
            <a:cxnLst/>
            <a:rect l="l" t="t" r="r" b="b"/>
            <a:pathLst>
              <a:path w="2790127" h="2769835">
                <a:moveTo>
                  <a:pt x="0" y="0"/>
                </a:moveTo>
                <a:lnTo>
                  <a:pt x="2790127" y="0"/>
                </a:lnTo>
                <a:lnTo>
                  <a:pt x="2790127" y="2769835"/>
                </a:lnTo>
                <a:lnTo>
                  <a:pt x="0" y="27698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5815" y="6287763"/>
            <a:ext cx="2930559" cy="2770711"/>
          </a:xfrm>
          <a:custGeom>
            <a:avLst/>
            <a:gdLst/>
            <a:ahLst/>
            <a:cxnLst/>
            <a:rect l="l" t="t" r="r" b="b"/>
            <a:pathLst>
              <a:path w="2930559" h="2770711">
                <a:moveTo>
                  <a:pt x="0" y="0"/>
                </a:moveTo>
                <a:lnTo>
                  <a:pt x="2930559" y="0"/>
                </a:lnTo>
                <a:lnTo>
                  <a:pt x="2930559" y="2770711"/>
                </a:lnTo>
                <a:lnTo>
                  <a:pt x="0" y="2770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3370" y="687956"/>
            <a:ext cx="5254221" cy="687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5149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5149" u="sng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Objectives: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81743" y="3605612"/>
            <a:ext cx="9922745" cy="204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821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To generate intelligent Disease Prdiction System.</a:t>
            </a:r>
          </a:p>
          <a:p>
            <a:pPr algn="l">
              <a:lnSpc>
                <a:spcPts val="2962"/>
              </a:lnSpc>
            </a:pPr>
            <a:r>
              <a:rPr lang="en-US" sz="2821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962"/>
              </a:lnSpc>
            </a:pPr>
            <a:r>
              <a:rPr lang="en-US" sz="2821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To generate detailed and easy-to-understand disease reports for users.</a:t>
            </a:r>
          </a:p>
          <a:p>
            <a:pPr algn="l">
              <a:lnSpc>
                <a:spcPts val="2332"/>
              </a:lnSpc>
            </a:pPr>
            <a:endParaRPr lang="en-US" sz="2821">
              <a:solidFill>
                <a:srgbClr val="044D8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13"/>
              </a:lnSpc>
            </a:pPr>
            <a:endParaRPr lang="en-US" sz="2821">
              <a:solidFill>
                <a:srgbClr val="044D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81743" y="7397680"/>
            <a:ext cx="10218685" cy="137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821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To assist in early disease detection by providing quick and accurate preliminary predictions, supporting timely medical consultation.</a:t>
            </a:r>
          </a:p>
          <a:p>
            <a:pPr algn="l">
              <a:lnSpc>
                <a:spcPts val="1813"/>
              </a:lnSpc>
            </a:pPr>
            <a:endParaRPr lang="en-US" sz="2821">
              <a:solidFill>
                <a:srgbClr val="044D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881743" y="5658707"/>
            <a:ext cx="10218685" cy="137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821">
                <a:solidFill>
                  <a:srgbClr val="044D8F"/>
                </a:solidFill>
                <a:latin typeface="Poppins"/>
                <a:ea typeface="Poppins"/>
                <a:cs typeface="Poppins"/>
                <a:sym typeface="Poppins"/>
              </a:rPr>
              <a:t>To compare the performance of different machine learning algorithms and identify the model that provides the highest prediction accuracy.</a:t>
            </a:r>
          </a:p>
          <a:p>
            <a:pPr algn="l">
              <a:lnSpc>
                <a:spcPts val="1813"/>
              </a:lnSpc>
            </a:pPr>
            <a:endParaRPr lang="en-US" sz="2821">
              <a:solidFill>
                <a:srgbClr val="044D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16965" y="819465"/>
            <a:ext cx="3256694" cy="8971429"/>
            <a:chOff x="0" y="0"/>
            <a:chExt cx="307129" cy="8460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7129" cy="846069"/>
            </a:xfrm>
            <a:custGeom>
              <a:avLst/>
              <a:gdLst/>
              <a:ahLst/>
              <a:cxnLst/>
              <a:rect l="l" t="t" r="r" b="b"/>
              <a:pathLst>
                <a:path w="307129" h="846069">
                  <a:moveTo>
                    <a:pt x="153565" y="0"/>
                  </a:moveTo>
                  <a:cubicBezTo>
                    <a:pt x="68753" y="0"/>
                    <a:pt x="0" y="189399"/>
                    <a:pt x="0" y="423035"/>
                  </a:cubicBezTo>
                  <a:cubicBezTo>
                    <a:pt x="0" y="656670"/>
                    <a:pt x="68753" y="846069"/>
                    <a:pt x="153565" y="846069"/>
                  </a:cubicBezTo>
                  <a:cubicBezTo>
                    <a:pt x="238376" y="846069"/>
                    <a:pt x="307129" y="656670"/>
                    <a:pt x="307129" y="423035"/>
                  </a:cubicBezTo>
                  <a:cubicBezTo>
                    <a:pt x="307129" y="189399"/>
                    <a:pt x="238376" y="0"/>
                    <a:pt x="153565" y="0"/>
                  </a:cubicBezTo>
                  <a:close/>
                </a:path>
              </a:pathLst>
            </a:custGeom>
            <a:solidFill>
              <a:srgbClr val="044D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793" y="41219"/>
              <a:ext cx="249543" cy="725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1151" y="535458"/>
            <a:ext cx="8491044" cy="70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291" b="1" u="sng">
                <a:solidFill>
                  <a:srgbClr val="044D8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Methodology: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049" y="3294035"/>
            <a:ext cx="14389023" cy="6573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sz="2473" b="1">
                <a:solidFill>
                  <a:srgbClr val="044D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NumPy: A Python library used for fast numerical computations and efficient array operations, helping process large datasets.</a:t>
            </a:r>
          </a:p>
          <a:p>
            <a:pPr algn="ctr">
              <a:lnSpc>
                <a:spcPts val="3463"/>
              </a:lnSpc>
            </a:pPr>
            <a:endParaRPr lang="en-US" sz="2473" b="1">
              <a:solidFill>
                <a:srgbClr val="044D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463"/>
              </a:lnSpc>
            </a:pPr>
            <a:r>
              <a:rPr lang="en-US" sz="2473" b="1">
                <a:solidFill>
                  <a:srgbClr val="044D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Pandas: A Python library used to load, clean, organize, and analyze the symptom dataset before training the machine learning model.</a:t>
            </a:r>
          </a:p>
          <a:p>
            <a:pPr algn="ctr">
              <a:lnSpc>
                <a:spcPts val="3463"/>
              </a:lnSpc>
            </a:pPr>
            <a:endParaRPr lang="en-US" sz="2473" b="1">
              <a:solidFill>
                <a:srgbClr val="044D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463"/>
              </a:lnSpc>
            </a:pPr>
            <a:r>
              <a:rPr lang="en-US" sz="2473">
                <a:solidFill>
                  <a:srgbClr val="044D8F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2473" b="1">
                <a:solidFill>
                  <a:srgbClr val="044D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HTML: A markup language used to create the structure and user interface of  the web application, allowing users to enter symptoms and view predictions.</a:t>
            </a:r>
          </a:p>
          <a:p>
            <a:pPr algn="ctr">
              <a:lnSpc>
                <a:spcPts val="3463"/>
              </a:lnSpc>
            </a:pPr>
            <a:endParaRPr lang="en-US" sz="2473" b="1">
              <a:solidFill>
                <a:srgbClr val="044D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463"/>
              </a:lnSpc>
            </a:pPr>
            <a:r>
              <a:rPr lang="en-US" sz="2473" b="1">
                <a:solidFill>
                  <a:srgbClr val="044D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Pickle: A Python module used to save and load the trained machine learning model, eliminating the need to retrain it every time the application runs.</a:t>
            </a:r>
          </a:p>
          <a:p>
            <a:pPr algn="ctr">
              <a:lnSpc>
                <a:spcPts val="3463"/>
              </a:lnSpc>
            </a:pPr>
            <a:endParaRPr lang="en-US" sz="2473" b="1">
              <a:solidFill>
                <a:srgbClr val="044D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463"/>
              </a:lnSpc>
            </a:pPr>
            <a:r>
              <a:rPr lang="en-US" sz="2473" b="1">
                <a:solidFill>
                  <a:srgbClr val="044D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Flask: A lightweight Python web framework that connects the machine learning model with the HTML interface and handles user requests to generate predictions.</a:t>
            </a:r>
          </a:p>
          <a:p>
            <a:pPr algn="ctr">
              <a:lnSpc>
                <a:spcPts val="3739"/>
              </a:lnSpc>
            </a:pPr>
            <a:endParaRPr lang="en-US" sz="2473" b="1">
              <a:solidFill>
                <a:srgbClr val="044D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584672" y="1609127"/>
            <a:ext cx="1674628" cy="12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"/>
              </a:lnSpc>
            </a:pPr>
            <a:r>
              <a:rPr lang="en-US" sz="378">
                <a:solidFill>
                  <a:srgbClr val="044D8F"/>
                </a:solidFill>
                <a:latin typeface="Canva Sans"/>
                <a:ea typeface="Canva Sans"/>
                <a:cs typeface="Canva Sans"/>
                <a:sym typeface="Canva Sans"/>
              </a:rPr>
              <a:t>ABNNB</a:t>
            </a:r>
          </a:p>
          <a:p>
            <a:pPr algn="ctr">
              <a:lnSpc>
                <a:spcPts val="529"/>
              </a:lnSpc>
            </a:pPr>
            <a:r>
              <a:rPr lang="en-US" sz="378">
                <a:solidFill>
                  <a:srgbClr val="044D8F"/>
                </a:solidFill>
                <a:latin typeface="Canva Sans"/>
                <a:ea typeface="Canva Sans"/>
                <a:cs typeface="Canva Sans"/>
                <a:sym typeface="Canva Sans"/>
              </a:rPr>
              <a:t>dd a  bit of boKHHJdy text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2054" y="3116128"/>
            <a:ext cx="2506861" cy="522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1F7FA"/>
                </a:solidFill>
                <a:latin typeface="Canva Sans"/>
                <a:ea typeface="Canva Sans"/>
                <a:cs typeface="Canva Sans"/>
                <a:sym typeface="Canva Sans"/>
              </a:rPr>
              <a:t>Random Forest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1F7F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1F7FA"/>
                </a:solidFill>
                <a:latin typeface="Canva Sans"/>
                <a:ea typeface="Canva Sans"/>
                <a:cs typeface="Canva Sans"/>
                <a:sym typeface="Canva Sans"/>
              </a:rPr>
              <a:t>Numpy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1F7F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1F7FA"/>
                </a:solidFill>
                <a:latin typeface="Canva Sans"/>
                <a:ea typeface="Canva Sans"/>
                <a:cs typeface="Canva Sans"/>
                <a:sym typeface="Canva Sans"/>
              </a:rPr>
              <a:t>Pandas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1F7F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1F7FA"/>
                </a:solidFill>
                <a:latin typeface="Canva Sans"/>
                <a:ea typeface="Canva Sans"/>
                <a:cs typeface="Canva Sans"/>
                <a:sym typeface="Canva Sans"/>
              </a:rPr>
              <a:t>HTML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1F7F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1F7FA"/>
                </a:solidFill>
                <a:latin typeface="Canva Sans"/>
                <a:ea typeface="Canva Sans"/>
                <a:cs typeface="Canva Sans"/>
                <a:sym typeface="Canva Sans"/>
              </a:rPr>
              <a:t>PICKLE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1F7F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1F7FA"/>
                </a:solidFill>
                <a:latin typeface="Canva Sans"/>
                <a:ea typeface="Canva Sans"/>
                <a:cs typeface="Canva Sans"/>
                <a:sym typeface="Canva Sans"/>
              </a:rPr>
              <a:t>FLASK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2001" y="1873724"/>
            <a:ext cx="14194964" cy="86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7"/>
              </a:lnSpc>
            </a:pPr>
            <a:r>
              <a:rPr lang="en-US" sz="2512" b="1">
                <a:solidFill>
                  <a:srgbClr val="044D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Forest: Random Forest is a machine learning algorithm that combines multiple decision trees to improve prediction accuracy and reduce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D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98267" y="1329335"/>
            <a:ext cx="4423924" cy="8569301"/>
          </a:xfrm>
          <a:custGeom>
            <a:avLst/>
            <a:gdLst/>
            <a:ahLst/>
            <a:cxnLst/>
            <a:rect l="l" t="t" r="r" b="b"/>
            <a:pathLst>
              <a:path w="4423924" h="8569301">
                <a:moveTo>
                  <a:pt x="0" y="0"/>
                </a:moveTo>
                <a:lnTo>
                  <a:pt x="4423923" y="0"/>
                </a:lnTo>
                <a:lnTo>
                  <a:pt x="4423923" y="8569301"/>
                </a:lnTo>
                <a:lnTo>
                  <a:pt x="0" y="8569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25" b="-16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55815" y="426284"/>
            <a:ext cx="12140097" cy="70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2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WorkFlow Diagram: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D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5815" y="3305311"/>
            <a:ext cx="1128349" cy="1128349"/>
          </a:xfrm>
          <a:custGeom>
            <a:avLst/>
            <a:gdLst/>
            <a:ahLst/>
            <a:cxnLst/>
            <a:rect l="l" t="t" r="r" b="b"/>
            <a:pathLst>
              <a:path w="1128349" h="1128349">
                <a:moveTo>
                  <a:pt x="0" y="0"/>
                </a:moveTo>
                <a:lnTo>
                  <a:pt x="1128348" y="0"/>
                </a:lnTo>
                <a:lnTo>
                  <a:pt x="1128348" y="1128349"/>
                </a:lnTo>
                <a:lnTo>
                  <a:pt x="0" y="1128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60175" y="5369259"/>
            <a:ext cx="1128349" cy="1128349"/>
          </a:xfrm>
          <a:custGeom>
            <a:avLst/>
            <a:gdLst/>
            <a:ahLst/>
            <a:cxnLst/>
            <a:rect l="l" t="t" r="r" b="b"/>
            <a:pathLst>
              <a:path w="1128349" h="1128349">
                <a:moveTo>
                  <a:pt x="0" y="0"/>
                </a:moveTo>
                <a:lnTo>
                  <a:pt x="1128349" y="0"/>
                </a:lnTo>
                <a:lnTo>
                  <a:pt x="1128349" y="1128349"/>
                </a:lnTo>
                <a:lnTo>
                  <a:pt x="0" y="1128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5815" y="7433206"/>
            <a:ext cx="1128349" cy="1128349"/>
          </a:xfrm>
          <a:custGeom>
            <a:avLst/>
            <a:gdLst/>
            <a:ahLst/>
            <a:cxnLst/>
            <a:rect l="l" t="t" r="r" b="b"/>
            <a:pathLst>
              <a:path w="1128349" h="1128349">
                <a:moveTo>
                  <a:pt x="0" y="0"/>
                </a:moveTo>
                <a:lnTo>
                  <a:pt x="1128348" y="0"/>
                </a:lnTo>
                <a:lnTo>
                  <a:pt x="1128348" y="1128349"/>
                </a:lnTo>
                <a:lnTo>
                  <a:pt x="0" y="1128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62219" y="1419397"/>
            <a:ext cx="11627920" cy="70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52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Expected Outcomes: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35750" y="3286261"/>
            <a:ext cx="9954390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Asssuming to predict accurate symptoms-Based Disease.</a:t>
            </a:r>
          </a:p>
          <a:p>
            <a:pPr algn="l">
              <a:lnSpc>
                <a:spcPts val="3158"/>
              </a:lnSpc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835750" y="5350209"/>
            <a:ext cx="9370237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gain better awareness of potential health conditions based on their symptoms, promoting proactive healthcare.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35750" y="7417896"/>
            <a:ext cx="9188839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can generate predictions within seconds, reducing the time required for preliminary disease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D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5815" y="3305311"/>
            <a:ext cx="1128349" cy="1128349"/>
          </a:xfrm>
          <a:custGeom>
            <a:avLst/>
            <a:gdLst/>
            <a:ahLst/>
            <a:cxnLst/>
            <a:rect l="l" t="t" r="r" b="b"/>
            <a:pathLst>
              <a:path w="1128349" h="1128349">
                <a:moveTo>
                  <a:pt x="0" y="0"/>
                </a:moveTo>
                <a:lnTo>
                  <a:pt x="1128348" y="0"/>
                </a:lnTo>
                <a:lnTo>
                  <a:pt x="1128348" y="1128349"/>
                </a:lnTo>
                <a:lnTo>
                  <a:pt x="0" y="1128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60175" y="5369259"/>
            <a:ext cx="1128349" cy="1128349"/>
          </a:xfrm>
          <a:custGeom>
            <a:avLst/>
            <a:gdLst/>
            <a:ahLst/>
            <a:cxnLst/>
            <a:rect l="l" t="t" r="r" b="b"/>
            <a:pathLst>
              <a:path w="1128349" h="1128349">
                <a:moveTo>
                  <a:pt x="0" y="0"/>
                </a:moveTo>
                <a:lnTo>
                  <a:pt x="1128349" y="0"/>
                </a:lnTo>
                <a:lnTo>
                  <a:pt x="1128349" y="1128349"/>
                </a:lnTo>
                <a:lnTo>
                  <a:pt x="0" y="1128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5815" y="7433206"/>
            <a:ext cx="1128349" cy="1128349"/>
          </a:xfrm>
          <a:custGeom>
            <a:avLst/>
            <a:gdLst/>
            <a:ahLst/>
            <a:cxnLst/>
            <a:rect l="l" t="t" r="r" b="b"/>
            <a:pathLst>
              <a:path w="1128349" h="1128349">
                <a:moveTo>
                  <a:pt x="0" y="0"/>
                </a:moveTo>
                <a:lnTo>
                  <a:pt x="1128348" y="0"/>
                </a:lnTo>
                <a:lnTo>
                  <a:pt x="1128348" y="1128349"/>
                </a:lnTo>
                <a:lnTo>
                  <a:pt x="0" y="1128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55815" y="1324932"/>
            <a:ext cx="11183158" cy="70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52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Future  Scope: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17149" y="3045192"/>
            <a:ext cx="9954390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can be connected with hospital databases and electronic health records to improve prediction accuracy and support clinical decision-making.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17149" y="5124450"/>
            <a:ext cx="9188839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mobile app can be developed to allow users to enter symptoms and receive disease predictions anytime and anywhere.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17149" y="7173087"/>
            <a:ext cx="9188839" cy="122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Integrate interactive graphs, charts, and detailed health reports to improve the visualization and interpretation of prediction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34" y="2882654"/>
            <a:ext cx="10789585" cy="6375646"/>
            <a:chOff x="0" y="0"/>
            <a:chExt cx="968305" cy="5721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8305" cy="572179"/>
            </a:xfrm>
            <a:custGeom>
              <a:avLst/>
              <a:gdLst/>
              <a:ahLst/>
              <a:cxnLst/>
              <a:rect l="l" t="t" r="r" b="b"/>
              <a:pathLst>
                <a:path w="968305" h="572179">
                  <a:moveTo>
                    <a:pt x="29710" y="0"/>
                  </a:moveTo>
                  <a:lnTo>
                    <a:pt x="938595" y="0"/>
                  </a:lnTo>
                  <a:cubicBezTo>
                    <a:pt x="946474" y="0"/>
                    <a:pt x="954031" y="3130"/>
                    <a:pt x="959603" y="8702"/>
                  </a:cubicBezTo>
                  <a:cubicBezTo>
                    <a:pt x="965175" y="14274"/>
                    <a:pt x="968305" y="21831"/>
                    <a:pt x="968305" y="29710"/>
                  </a:cubicBezTo>
                  <a:lnTo>
                    <a:pt x="968305" y="542468"/>
                  </a:lnTo>
                  <a:cubicBezTo>
                    <a:pt x="968305" y="550348"/>
                    <a:pt x="965175" y="557905"/>
                    <a:pt x="959603" y="563477"/>
                  </a:cubicBezTo>
                  <a:cubicBezTo>
                    <a:pt x="954031" y="569049"/>
                    <a:pt x="946474" y="572179"/>
                    <a:pt x="938595" y="572179"/>
                  </a:cubicBezTo>
                  <a:lnTo>
                    <a:pt x="29710" y="572179"/>
                  </a:lnTo>
                  <a:cubicBezTo>
                    <a:pt x="21831" y="572179"/>
                    <a:pt x="14274" y="569049"/>
                    <a:pt x="8702" y="563477"/>
                  </a:cubicBezTo>
                  <a:cubicBezTo>
                    <a:pt x="3130" y="557905"/>
                    <a:pt x="0" y="550348"/>
                    <a:pt x="0" y="542468"/>
                  </a:cubicBezTo>
                  <a:lnTo>
                    <a:pt x="0" y="29710"/>
                  </a:lnTo>
                  <a:cubicBezTo>
                    <a:pt x="0" y="21831"/>
                    <a:pt x="3130" y="14274"/>
                    <a:pt x="8702" y="8702"/>
                  </a:cubicBezTo>
                  <a:cubicBezTo>
                    <a:pt x="14274" y="3130"/>
                    <a:pt x="21831" y="0"/>
                    <a:pt x="29710" y="0"/>
                  </a:cubicBezTo>
                  <a:close/>
                </a:path>
              </a:pathLst>
            </a:custGeom>
            <a:solidFill>
              <a:srgbClr val="044D8F"/>
            </a:solidFill>
            <a:ln w="133350" cap="rnd">
              <a:solidFill>
                <a:srgbClr val="FFFFF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8305" cy="610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51619" y="1028700"/>
            <a:ext cx="6329682" cy="7617779"/>
          </a:xfrm>
          <a:custGeom>
            <a:avLst/>
            <a:gdLst/>
            <a:ahLst/>
            <a:cxnLst/>
            <a:rect l="l" t="t" r="r" b="b"/>
            <a:pathLst>
              <a:path w="6329682" h="7617779">
                <a:moveTo>
                  <a:pt x="0" y="0"/>
                </a:moveTo>
                <a:lnTo>
                  <a:pt x="6329682" y="0"/>
                </a:lnTo>
                <a:lnTo>
                  <a:pt x="6329682" y="7617779"/>
                </a:lnTo>
                <a:lnTo>
                  <a:pt x="0" y="76177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44151" y="1702790"/>
            <a:ext cx="8730540" cy="70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5291" b="1">
                <a:solidFill>
                  <a:srgbClr val="044D8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</a:t>
            </a:r>
            <a:r>
              <a:rPr lang="en-US" sz="5291" b="1" u="sng">
                <a:solidFill>
                  <a:srgbClr val="044D8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663923"/>
            <a:ext cx="10270727" cy="420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3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Symptom-Based Disease Prediction System demonstrates how machine learning can assist in predicting diseases from user-provided symptoms. The proposed system provides quick and reliable preliminary predictions, supporting early disease identification and informed healthcare decisions. By integrating data preprocessing, machine learning, and a web interface, the project offers an efficient and user-friendly solution.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D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497061" y="1295673"/>
            <a:ext cx="4977550" cy="5032449"/>
          </a:xfrm>
          <a:custGeom>
            <a:avLst/>
            <a:gdLst/>
            <a:ahLst/>
            <a:cxnLst/>
            <a:rect l="l" t="t" r="r" b="b"/>
            <a:pathLst>
              <a:path w="4977550" h="5032449">
                <a:moveTo>
                  <a:pt x="4977550" y="0"/>
                </a:moveTo>
                <a:lnTo>
                  <a:pt x="0" y="0"/>
                </a:lnTo>
                <a:lnTo>
                  <a:pt x="0" y="5032449"/>
                </a:lnTo>
                <a:lnTo>
                  <a:pt x="4977550" y="5032449"/>
                </a:lnTo>
                <a:lnTo>
                  <a:pt x="49775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5047843" y="6631910"/>
            <a:ext cx="5282376" cy="2986944"/>
          </a:xfrm>
          <a:custGeom>
            <a:avLst/>
            <a:gdLst/>
            <a:ahLst/>
            <a:cxnLst/>
            <a:rect l="l" t="t" r="r" b="b"/>
            <a:pathLst>
              <a:path w="5282376" h="2986944">
                <a:moveTo>
                  <a:pt x="5282377" y="0"/>
                </a:moveTo>
                <a:lnTo>
                  <a:pt x="0" y="0"/>
                </a:lnTo>
                <a:lnTo>
                  <a:pt x="0" y="2986944"/>
                </a:lnTo>
                <a:lnTo>
                  <a:pt x="5282377" y="2986944"/>
                </a:lnTo>
                <a:lnTo>
                  <a:pt x="52823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91571" y="3029859"/>
            <a:ext cx="10234197" cy="179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7"/>
              </a:lnSpc>
            </a:pPr>
            <a:r>
              <a:rPr lang="en-US" sz="13279" b="1">
                <a:solidFill>
                  <a:srgbClr val="D6E6F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25678" y="4814530"/>
            <a:ext cx="8370798" cy="5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76"/>
              </a:lnSpc>
            </a:pPr>
            <a:r>
              <a:rPr lang="en-US" sz="4321">
                <a:solidFill>
                  <a:srgbClr val="D6E6F7"/>
                </a:solidFill>
                <a:latin typeface="Poppins"/>
                <a:ea typeface="Poppins"/>
                <a:cs typeface="Poppins"/>
                <a:sym typeface="Poppins"/>
              </a:rPr>
              <a:t>Presented by Anuj Agrawal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682</Words>
  <Application>Microsoft Office PowerPoint</Application>
  <PresentationFormat>Custom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Poppins</vt:lpstr>
      <vt:lpstr>Arial</vt:lpstr>
      <vt:lpstr>Calibri</vt:lpstr>
      <vt:lpstr>Poppins Bold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Medical Healthcare Presentation</dc:title>
  <cp:lastModifiedBy>Ankur Agrawal</cp:lastModifiedBy>
  <cp:revision>1</cp:revision>
  <dcterms:created xsi:type="dcterms:W3CDTF">2006-08-16T00:00:00Z</dcterms:created>
  <dcterms:modified xsi:type="dcterms:W3CDTF">2026-07-06T16:04:50Z</dcterms:modified>
  <dc:identifier>DAHOHDmMRwM</dc:identifier>
</cp:coreProperties>
</file>